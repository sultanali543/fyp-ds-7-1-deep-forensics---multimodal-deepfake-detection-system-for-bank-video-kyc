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88" r:id="rId10"/>
    <p:sldId id="263" r:id="rId11"/>
    <p:sldId id="264" r:id="rId12"/>
    <p:sldId id="265" r:id="rId13"/>
    <p:sldId id="266" r:id="rId14"/>
    <p:sldId id="267" r:id="rId15"/>
    <p:sldId id="268" r:id="rId16"/>
    <p:sldId id="274" r:id="rId17"/>
    <p:sldId id="277" r:id="rId18"/>
    <p:sldId id="276" r:id="rId19"/>
    <p:sldId id="275" r:id="rId20"/>
    <p:sldId id="279" r:id="rId21"/>
    <p:sldId id="278" r:id="rId22"/>
    <p:sldId id="280" r:id="rId23"/>
    <p:sldId id="281" r:id="rId24"/>
    <p:sldId id="269" r:id="rId25"/>
    <p:sldId id="270" r:id="rId26"/>
    <p:sldId id="282" r:id="rId27"/>
    <p:sldId id="271" r:id="rId28"/>
    <p:sldId id="272" r:id="rId29"/>
    <p:sldId id="283" r:id="rId30"/>
    <p:sldId id="285" r:id="rId31"/>
    <p:sldId id="286" r:id="rId32"/>
    <p:sldId id="287" r:id="rId33"/>
    <p:sldId id="289" r:id="rId34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qso+muD7qxSKyk66oXGt+27n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2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4C4DCF61-B780-3321-9761-607F37DD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>
            <a:extLst>
              <a:ext uri="{FF2B5EF4-FFF2-40B4-BE49-F238E27FC236}">
                <a16:creationId xmlns:a16="http://schemas.microsoft.com/office/drawing/2014/main" id="{62DCA1B7-3573-9A3E-99E2-B63C61182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1559958-5A4B-1869-E5D5-4055BD65D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2434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C2756B6-E855-A2ED-7355-46C499BA8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1594FACA-75D8-1ABA-E857-CC6D7C670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7:notes">
            <a:extLst>
              <a:ext uri="{FF2B5EF4-FFF2-40B4-BE49-F238E27FC236}">
                <a16:creationId xmlns:a16="http://schemas.microsoft.com/office/drawing/2014/main" id="{9BE5781B-B1AD-177C-B509-CB0D96913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5325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9867fdc9_0_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2039867fdc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39867fdc9_0_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g2039867fdc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B5C3DC02-F1F4-DD23-9867-6E6C1AC0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48B6D764-6A76-B8BC-BF5E-33ED88C9C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>
            <a:extLst>
              <a:ext uri="{FF2B5EF4-FFF2-40B4-BE49-F238E27FC236}">
                <a16:creationId xmlns:a16="http://schemas.microsoft.com/office/drawing/2014/main" id="{7F8B3C5F-840E-32BC-0506-3B8A7DA600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01496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35AB70A-F594-AFF1-D197-D15CF318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B9A50825-55CE-1EDD-D48D-E77D7ABED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>
            <a:extLst>
              <a:ext uri="{FF2B5EF4-FFF2-40B4-BE49-F238E27FC236}">
                <a16:creationId xmlns:a16="http://schemas.microsoft.com/office/drawing/2014/main" id="{81C5DAED-A0E1-229E-72F2-6A31103D2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7734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CCA4FB86-FDEA-9158-69C9-3AD9A3F1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DF3826F9-3F30-59A4-B147-70D4E052F3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>
            <a:extLst>
              <a:ext uri="{FF2B5EF4-FFF2-40B4-BE49-F238E27FC236}">
                <a16:creationId xmlns:a16="http://schemas.microsoft.com/office/drawing/2014/main" id="{6A47BAD5-6D9A-F2A8-EA50-50F951AF8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9194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6FF27AC3-1879-CEDE-8570-4F4261FF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3D104097-2A82-5EF6-6738-4A6944716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>
            <a:extLst>
              <a:ext uri="{FF2B5EF4-FFF2-40B4-BE49-F238E27FC236}">
                <a16:creationId xmlns:a16="http://schemas.microsoft.com/office/drawing/2014/main" id="{9F827513-F4CB-6F94-064E-8BCCD3C08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5862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08E0060A-F155-65C7-C38B-C9C14B05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11FC92F8-3177-0A48-BB4F-DAFC02D89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>
            <a:extLst>
              <a:ext uri="{FF2B5EF4-FFF2-40B4-BE49-F238E27FC236}">
                <a16:creationId xmlns:a16="http://schemas.microsoft.com/office/drawing/2014/main" id="{79783C23-17BB-879B-7264-0C98AE5F0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6510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D20C300-CB44-73B7-E41E-1A40A8FAC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4E062A47-43A1-39A9-D17D-8EBC32D39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>
            <a:extLst>
              <a:ext uri="{FF2B5EF4-FFF2-40B4-BE49-F238E27FC236}">
                <a16:creationId xmlns:a16="http://schemas.microsoft.com/office/drawing/2014/main" id="{86F42478-FA11-CD65-B2E0-1C1BF838E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09640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C6275730-3A45-A963-8FF1-53395ABB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F4B43361-2A9C-AAA5-8591-DBAEA655F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>
            <a:extLst>
              <a:ext uri="{FF2B5EF4-FFF2-40B4-BE49-F238E27FC236}">
                <a16:creationId xmlns:a16="http://schemas.microsoft.com/office/drawing/2014/main" id="{FBE9EE1B-4C20-80A5-DCB5-300E2F6DE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25887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0BF4403-136C-FCB9-4BA6-6A53E9E1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15CFE9E2-5CC9-BD06-3865-33AE02EB5A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>
            <a:extLst>
              <a:ext uri="{FF2B5EF4-FFF2-40B4-BE49-F238E27FC236}">
                <a16:creationId xmlns:a16="http://schemas.microsoft.com/office/drawing/2014/main" id="{96997ADE-DF39-6791-55B3-AB24AD43E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8389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BCA66D35-4778-F61E-0C0D-6138B543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>
            <a:extLst>
              <a:ext uri="{FF2B5EF4-FFF2-40B4-BE49-F238E27FC236}">
                <a16:creationId xmlns:a16="http://schemas.microsoft.com/office/drawing/2014/main" id="{E9CAD3B8-2AA0-6D42-14A7-4861B9F85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3:notes">
            <a:extLst>
              <a:ext uri="{FF2B5EF4-FFF2-40B4-BE49-F238E27FC236}">
                <a16:creationId xmlns:a16="http://schemas.microsoft.com/office/drawing/2014/main" id="{72FDE16E-A61B-7443-8C52-4CE4049D6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46464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B274BB4-F552-7D74-6A3F-F8CD41B4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:notes">
            <a:extLst>
              <a:ext uri="{FF2B5EF4-FFF2-40B4-BE49-F238E27FC236}">
                <a16:creationId xmlns:a16="http://schemas.microsoft.com/office/drawing/2014/main" id="{06B462C5-8DBF-F22B-32BF-2D8B3194C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26:notes">
            <a:extLst>
              <a:ext uri="{FF2B5EF4-FFF2-40B4-BE49-F238E27FC236}">
                <a16:creationId xmlns:a16="http://schemas.microsoft.com/office/drawing/2014/main" id="{C51EDA5B-29D1-DDD2-A85A-5F6A78AB7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91841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D3E4A5CD-222E-28B0-E0A7-5EE91085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>
            <a:extLst>
              <a:ext uri="{FF2B5EF4-FFF2-40B4-BE49-F238E27FC236}">
                <a16:creationId xmlns:a16="http://schemas.microsoft.com/office/drawing/2014/main" id="{12F8A332-CAB3-DF08-5DE1-F7F7D6252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27:notes">
            <a:extLst>
              <a:ext uri="{FF2B5EF4-FFF2-40B4-BE49-F238E27FC236}">
                <a16:creationId xmlns:a16="http://schemas.microsoft.com/office/drawing/2014/main" id="{03CFCDCE-1485-B906-E2FF-F9D2907F9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63013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0C7A54F0-714D-F233-4B43-C4D6A101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>
            <a:extLst>
              <a:ext uri="{FF2B5EF4-FFF2-40B4-BE49-F238E27FC236}">
                <a16:creationId xmlns:a16="http://schemas.microsoft.com/office/drawing/2014/main" id="{232F7808-C739-94D0-E7D9-2AFE4DC90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27:notes">
            <a:extLst>
              <a:ext uri="{FF2B5EF4-FFF2-40B4-BE49-F238E27FC236}">
                <a16:creationId xmlns:a16="http://schemas.microsoft.com/office/drawing/2014/main" id="{19861ECB-0FC6-C308-0DEB-D1EEED9F8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81285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D0C9D166-CCF3-8AC6-1EFF-A266C1B1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>
            <a:extLst>
              <a:ext uri="{FF2B5EF4-FFF2-40B4-BE49-F238E27FC236}">
                <a16:creationId xmlns:a16="http://schemas.microsoft.com/office/drawing/2014/main" id="{985BFB51-A70F-BBBC-9F70-06FEB4ED3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27:notes">
            <a:extLst>
              <a:ext uri="{FF2B5EF4-FFF2-40B4-BE49-F238E27FC236}">
                <a16:creationId xmlns:a16="http://schemas.microsoft.com/office/drawing/2014/main" id="{6622CE5F-230E-85F1-D453-EC15D240F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68431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9DC5955-D528-0811-C9F5-F1EF92C9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:notes">
            <a:extLst>
              <a:ext uri="{FF2B5EF4-FFF2-40B4-BE49-F238E27FC236}">
                <a16:creationId xmlns:a16="http://schemas.microsoft.com/office/drawing/2014/main" id="{972C9A94-CE25-BEFA-9FBD-4FA429C22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26:notes">
            <a:extLst>
              <a:ext uri="{FF2B5EF4-FFF2-40B4-BE49-F238E27FC236}">
                <a16:creationId xmlns:a16="http://schemas.microsoft.com/office/drawing/2014/main" id="{437FB9AA-2742-5394-3E20-E427AAE6C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443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Final Year Project Proposal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/>
            <a:r>
              <a:rPr lang="en-US" dirty="0"/>
              <a:t>Deep Forensics - Multimodal Deepfake Detection System for Bank Video-KYC</a:t>
            </a:r>
          </a:p>
          <a:p>
            <a:pPr lvl="0"/>
            <a:r>
              <a:rPr lang="en-US" sz="1400" dirty="0"/>
              <a:t>Supervised By: Mr. Junaid Khan </a:t>
            </a:r>
          </a:p>
          <a:p>
            <a:pPr lvl="0"/>
            <a:r>
              <a:rPr lang="en-US" sz="1400" dirty="0"/>
              <a:t>Co-Supervisor: Mr. M Imran Khan </a:t>
            </a:r>
          </a:p>
          <a:p>
            <a:pPr marL="63500" lvl="0" indent="0">
              <a:spcBef>
                <a:spcPts val="0"/>
              </a:spcBef>
            </a:pPr>
            <a:endParaRPr dirty="0"/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Sultan (56189)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Ch Mubashir (56892)</a:t>
            </a: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spcBef>
                <a:spcPts val="0"/>
              </a:spcBef>
              <a:buSzPts val="3200"/>
            </a:pPr>
            <a:r>
              <a:rPr lang="en-US" dirty="0"/>
              <a:t>Introduction and Background</a:t>
            </a:r>
            <a:endParaRPr dirty="0"/>
          </a:p>
          <a:p>
            <a:pPr indent="-457200">
              <a:spcBef>
                <a:spcPts val="640"/>
              </a:spcBef>
              <a:buSzPts val="3200"/>
            </a:pPr>
            <a:r>
              <a:rPr lang="en-US" dirty="0"/>
              <a:t>Literature Review and Summary Table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dirty="0"/>
              <a:t>Gap Analysis</a:t>
            </a:r>
            <a:endParaRPr dirty="0"/>
          </a:p>
          <a:p>
            <a:pPr indent="-457200">
              <a:spcBef>
                <a:spcPts val="640"/>
              </a:spcBef>
              <a:buSzPts val="3200"/>
            </a:pPr>
            <a:r>
              <a:rPr lang="en-US" dirty="0"/>
              <a:t>Problem Statement</a:t>
            </a:r>
            <a:endParaRPr dirty="0"/>
          </a:p>
          <a:p>
            <a:pPr indent="-457200">
              <a:spcBef>
                <a:spcPts val="640"/>
              </a:spcBef>
              <a:buSzPts val="3200"/>
            </a:pPr>
            <a:r>
              <a:rPr lang="en-US" dirty="0"/>
              <a:t>Proposed Solution &amp; Methodology</a:t>
            </a:r>
            <a:endParaRPr dirty="0"/>
          </a:p>
          <a:p>
            <a:pPr indent="-457200">
              <a:spcBef>
                <a:spcPts val="640"/>
              </a:spcBef>
              <a:buSzPts val="3200"/>
            </a:pPr>
            <a:r>
              <a:rPr lang="en-US" dirty="0"/>
              <a:t>Project Scope</a:t>
            </a:r>
            <a:endParaRPr dirty="0"/>
          </a:p>
          <a:p>
            <a:pPr indent="-457200">
              <a:spcBef>
                <a:spcPts val="640"/>
              </a:spcBef>
              <a:buSzPts val="3200"/>
            </a:pPr>
            <a:r>
              <a:rPr lang="en-US" dirty="0"/>
              <a:t>Work Breakdown Structure</a:t>
            </a:r>
            <a:endParaRPr dirty="0"/>
          </a:p>
          <a:p>
            <a:pPr indent="-457200">
              <a:spcBef>
                <a:spcPts val="640"/>
              </a:spcBef>
              <a:buSzPts val="3200"/>
            </a:pPr>
            <a:r>
              <a:rPr lang="en-US" dirty="0"/>
              <a:t>Roles and Responsibilities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AND BACKGROUND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Introduction &amp; Background</a:t>
            </a: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600" b="1" dirty="0"/>
              <a:t>Commercial banks </a:t>
            </a:r>
            <a:r>
              <a:rPr lang="en-US" sz="2600" dirty="0"/>
              <a:t>and </a:t>
            </a:r>
            <a:r>
              <a:rPr lang="en-US" sz="2600" b="1" dirty="0"/>
              <a:t>fintech</a:t>
            </a:r>
            <a:r>
              <a:rPr lang="en-US" sz="2600" dirty="0"/>
              <a:t> apps now onboard users through remote video calls (Video-KYC). </a:t>
            </a:r>
          </a:p>
          <a:p>
            <a:pPr lvl="0"/>
            <a:r>
              <a:rPr lang="en-US" sz="2600" dirty="0"/>
              <a:t>The State Bank of Pakistan (</a:t>
            </a:r>
            <a:r>
              <a:rPr lang="en-US" sz="2600" b="1" dirty="0"/>
              <a:t>SBP</a:t>
            </a:r>
            <a:r>
              <a:rPr lang="en-US" sz="2600" dirty="0"/>
              <a:t>) </a:t>
            </a:r>
            <a:r>
              <a:rPr lang="en-US" sz="2600" b="1" dirty="0"/>
              <a:t>encourages</a:t>
            </a:r>
            <a:r>
              <a:rPr lang="en-US" sz="2600" dirty="0"/>
              <a:t> digital account opening, making video calls common for </a:t>
            </a:r>
            <a:r>
              <a:rPr lang="en-US" sz="2600" b="1" dirty="0"/>
              <a:t>identity</a:t>
            </a:r>
            <a:r>
              <a:rPr lang="en-US" sz="2600" dirty="0"/>
              <a:t> </a:t>
            </a:r>
            <a:r>
              <a:rPr lang="en-US" sz="2600" b="1" dirty="0"/>
              <a:t>verification</a:t>
            </a:r>
            <a:r>
              <a:rPr lang="en-US" sz="2600" dirty="0"/>
              <a:t>. </a:t>
            </a:r>
          </a:p>
          <a:p>
            <a:pPr lvl="0"/>
            <a:r>
              <a:rPr lang="en-US" sz="2600" dirty="0"/>
              <a:t>The video session serves as the first point of contact for opening accounts or approving high-value transactions. </a:t>
            </a:r>
          </a:p>
          <a:p>
            <a:pPr lvl="0"/>
            <a:r>
              <a:rPr lang="en-US" sz="2600" dirty="0"/>
              <a:t>This reliance on video calls makes remote </a:t>
            </a:r>
            <a:r>
              <a:rPr lang="en-US" sz="2600" b="1" dirty="0"/>
              <a:t>onboarding</a:t>
            </a:r>
            <a:r>
              <a:rPr lang="en-US" sz="2600" dirty="0"/>
              <a:t> an attractive target for </a:t>
            </a:r>
            <a:r>
              <a:rPr lang="en-US" sz="2600" b="1" dirty="0"/>
              <a:t>digital</a:t>
            </a:r>
            <a:r>
              <a:rPr lang="en-US" sz="2600" dirty="0"/>
              <a:t> </a:t>
            </a:r>
            <a:r>
              <a:rPr lang="en-US" sz="2600" b="1" dirty="0"/>
              <a:t>identity</a:t>
            </a:r>
            <a:r>
              <a:rPr lang="en-US" sz="2600" dirty="0"/>
              <a:t> </a:t>
            </a:r>
            <a:r>
              <a:rPr lang="en-US" sz="2600" b="1" dirty="0"/>
              <a:t>fraud</a:t>
            </a:r>
            <a:r>
              <a:rPr lang="en-US" sz="2600" dirty="0"/>
              <a:t>. 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9EC3F3F-43DD-213E-8EA9-1D52621F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>
            <a:extLst>
              <a:ext uri="{FF2B5EF4-FFF2-40B4-BE49-F238E27FC236}">
                <a16:creationId xmlns:a16="http://schemas.microsoft.com/office/drawing/2014/main" id="{62F37FD0-4975-AFD2-CAC2-389BCF240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Project Stakeholders</a:t>
            </a:r>
            <a:endParaRPr dirty="0"/>
          </a:p>
        </p:txBody>
      </p:sp>
      <p:sp>
        <p:nvSpPr>
          <p:cNvPr id="110" name="Google Shape;110;p5">
            <a:extLst>
              <a:ext uri="{FF2B5EF4-FFF2-40B4-BE49-F238E27FC236}">
                <a16:creationId xmlns:a16="http://schemas.microsoft.com/office/drawing/2014/main" id="{CFD719C3-3833-1AC8-D16A-F545E8B27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200" b="1" dirty="0"/>
              <a:t>Primary Stakeholder:</a:t>
            </a:r>
            <a:r>
              <a:rPr lang="en-US" sz="2200" dirty="0"/>
              <a:t> Bank KYC officers and identity verification agents who approve or reject customer applications. </a:t>
            </a:r>
          </a:p>
          <a:p>
            <a:pPr lvl="0"/>
            <a:r>
              <a:rPr lang="en-US" sz="2200" b="1" dirty="0"/>
              <a:t>Internal Bank Teams:</a:t>
            </a:r>
            <a:r>
              <a:rPr lang="en-US" sz="2200" dirty="0"/>
              <a:t> Fraud, risk management, and IT compliance departments. </a:t>
            </a:r>
          </a:p>
          <a:p>
            <a:pPr lvl="0"/>
            <a:r>
              <a:rPr lang="en-US" sz="2200" b="1" dirty="0"/>
              <a:t>End Customers:</a:t>
            </a:r>
            <a:r>
              <a:rPr lang="en-US" sz="2200" dirty="0"/>
              <a:t> Legitimate account holders protected from identity theft and fraud. </a:t>
            </a:r>
          </a:p>
          <a:p>
            <a:pPr lvl="0"/>
            <a:r>
              <a:rPr lang="en-US" sz="2200" b="1" dirty="0"/>
              <a:t>Regulators:</a:t>
            </a:r>
            <a:r>
              <a:rPr lang="en-US" sz="2200" dirty="0"/>
              <a:t> Financial regulatory bodies that require transparent and auditable verification logs. </a:t>
            </a:r>
          </a:p>
          <a:p>
            <a:pPr lvl="0"/>
            <a:r>
              <a:rPr lang="en-US" sz="2200" b="1" dirty="0"/>
              <a:t>Secondary Market:</a:t>
            </a:r>
            <a:r>
              <a:rPr lang="en-US" sz="2200" dirty="0"/>
              <a:t> Corporate HR departments conducting remote hiring interviews.</a:t>
            </a:r>
          </a:p>
        </p:txBody>
      </p:sp>
    </p:spTree>
    <p:extLst>
      <p:ext uri="{BB962C8B-B14F-4D97-AF65-F5344CB8AC3E}">
        <p14:creationId xmlns:p14="http://schemas.microsoft.com/office/powerpoint/2010/main" val="162033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LITERATURE REVIEW</a:t>
            </a:r>
            <a:endParaRPr dirty="0"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Existing Systems – Commercial Solutions</a:t>
            </a:r>
            <a:endParaRPr dirty="0"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600" dirty="0"/>
              <a:t>Commercial vendors include platforms like </a:t>
            </a:r>
            <a:r>
              <a:rPr lang="en-US" sz="2600" dirty="0" err="1"/>
              <a:t>Onfido</a:t>
            </a:r>
            <a:r>
              <a:rPr lang="en-US" sz="2600" dirty="0"/>
              <a:t>, </a:t>
            </a:r>
            <a:r>
              <a:rPr lang="en-US" sz="2600" dirty="0" err="1"/>
              <a:t>iProov</a:t>
            </a:r>
            <a:r>
              <a:rPr lang="en-US" sz="2600" dirty="0"/>
              <a:t>, and </a:t>
            </a:r>
            <a:r>
              <a:rPr lang="en-US" sz="2600" dirty="0" err="1"/>
              <a:t>Jumio</a:t>
            </a:r>
            <a:r>
              <a:rPr lang="en-US" sz="2600" dirty="0"/>
              <a:t>. </a:t>
            </a:r>
          </a:p>
          <a:p>
            <a:pPr lvl="0"/>
            <a:r>
              <a:rPr lang="en-US" sz="2600" b="1" dirty="0"/>
              <a:t>Cost:</a:t>
            </a:r>
            <a:r>
              <a:rPr lang="en-US" sz="2600" dirty="0"/>
              <a:t> Enterprise subscription fees are high, especially for smaller local banks and fintechs. </a:t>
            </a:r>
          </a:p>
          <a:p>
            <a:pPr lvl="0"/>
            <a:r>
              <a:rPr lang="en-US" sz="2600" b="1" dirty="0"/>
              <a:t>Closed Systems:</a:t>
            </a:r>
            <a:r>
              <a:rPr lang="en-US" sz="2600" dirty="0"/>
              <a:t> Proprietary algorithms operate as black boxes without local source control. </a:t>
            </a:r>
          </a:p>
          <a:p>
            <a:pPr lvl="0"/>
            <a:r>
              <a:rPr lang="en-US" sz="2600" b="1" dirty="0"/>
              <a:t>Data Privacy:</a:t>
            </a:r>
            <a:r>
              <a:rPr lang="en-US" sz="2600" dirty="0"/>
              <a:t> Data is processed on foreign cloud servers, raising data-residency and compliance concerns under local financial regulations. 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C752681-4821-DAFD-EF86-3A1D317D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>
            <a:extLst>
              <a:ext uri="{FF2B5EF4-FFF2-40B4-BE49-F238E27FC236}">
                <a16:creationId xmlns:a16="http://schemas.microsoft.com/office/drawing/2014/main" id="{3976AEC3-0574-AF33-1B46-9F35F1CB3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References</a:t>
            </a:r>
            <a:endParaRPr dirty="0"/>
          </a:p>
        </p:txBody>
      </p:sp>
      <p:sp>
        <p:nvSpPr>
          <p:cNvPr id="122" name="Google Shape;122;p7">
            <a:extLst>
              <a:ext uri="{FF2B5EF4-FFF2-40B4-BE49-F238E27FC236}">
                <a16:creationId xmlns:a16="http://schemas.microsoft.com/office/drawing/2014/main" id="{611D6ECB-E154-5136-C4BC-2ADBBBB8D1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200" b="1" dirty="0"/>
              <a:t>[1]</a:t>
            </a:r>
            <a:r>
              <a:rPr lang="en-US" sz="2200" dirty="0"/>
              <a:t> H. Khalid et al., "</a:t>
            </a:r>
            <a:r>
              <a:rPr lang="en-US" sz="2200" dirty="0" err="1"/>
              <a:t>FakeAVCeleb</a:t>
            </a:r>
            <a:r>
              <a:rPr lang="en-US" sz="2200" dirty="0"/>
              <a:t>: A Novel Audio-Video Multimodal Deepfake Dataset," </a:t>
            </a:r>
            <a:r>
              <a:rPr lang="en-US" sz="2200" i="1" dirty="0" err="1"/>
              <a:t>NeurIPS</a:t>
            </a:r>
            <a:r>
              <a:rPr lang="en-US" sz="2200" dirty="0"/>
              <a:t>, 2021.</a:t>
            </a:r>
          </a:p>
          <a:p>
            <a:pPr lvl="0"/>
            <a:r>
              <a:rPr lang="en-US" sz="2200" b="1" dirty="0"/>
              <a:t>[2]</a:t>
            </a:r>
            <a:r>
              <a:rPr lang="en-US" sz="2200" dirty="0"/>
              <a:t> A. Rössler et al., "</a:t>
            </a:r>
            <a:r>
              <a:rPr lang="en-US" sz="2200" dirty="0" err="1"/>
              <a:t>FaceForensics</a:t>
            </a:r>
            <a:r>
              <a:rPr lang="en-US" sz="2200" dirty="0"/>
              <a:t>++: Learning to Detect Manipulated Facial Images," </a:t>
            </a:r>
            <a:r>
              <a:rPr lang="en-US" sz="2200" i="1" dirty="0"/>
              <a:t>IEEE/CVF ICCV</a:t>
            </a:r>
            <a:r>
              <a:rPr lang="en-US" sz="2200" dirty="0"/>
              <a:t>, 2019.</a:t>
            </a:r>
          </a:p>
          <a:p>
            <a:pPr lvl="0"/>
            <a:r>
              <a:rPr lang="en-US" sz="2200" b="1" dirty="0"/>
              <a:t>[3]</a:t>
            </a:r>
            <a:r>
              <a:rPr lang="en-US" sz="2200" dirty="0"/>
              <a:t> B. </a:t>
            </a:r>
            <a:r>
              <a:rPr lang="en-US" sz="2200" dirty="0" err="1"/>
              <a:t>Dolhansky</a:t>
            </a:r>
            <a:r>
              <a:rPr lang="en-US" sz="2200" dirty="0"/>
              <a:t> et al., "The Deepfake Detection Challenge (DFDC) Dataset," </a:t>
            </a:r>
            <a:r>
              <a:rPr lang="en-US" sz="2200" i="1" dirty="0"/>
              <a:t>arXiv:2006.07397</a:t>
            </a:r>
            <a:r>
              <a:rPr lang="en-US" sz="2200" dirty="0"/>
              <a:t>, 2020.</a:t>
            </a:r>
          </a:p>
          <a:p>
            <a:pPr lvl="0"/>
            <a:r>
              <a:rPr lang="en-US" sz="2200" b="1" dirty="0"/>
              <a:t>[4]</a:t>
            </a:r>
            <a:r>
              <a:rPr lang="en-US" sz="2200" dirty="0"/>
              <a:t> A. </a:t>
            </a:r>
            <a:r>
              <a:rPr lang="en-US" sz="2200" dirty="0" err="1"/>
              <a:t>Haliassos</a:t>
            </a:r>
            <a:r>
              <a:rPr lang="en-US" sz="2200" dirty="0"/>
              <a:t> et al., "Lips Don't Lie: A </a:t>
            </a:r>
            <a:r>
              <a:rPr lang="en-US" sz="2200" dirty="0" err="1"/>
              <a:t>Generalisable</a:t>
            </a:r>
            <a:r>
              <a:rPr lang="en-US" sz="2200" dirty="0"/>
              <a:t> and Robust Approach to Face Forgery Detection," </a:t>
            </a:r>
            <a:r>
              <a:rPr lang="en-US" sz="2200" i="1" dirty="0"/>
              <a:t>IEEE/CVF CVPR</a:t>
            </a:r>
            <a:r>
              <a:rPr lang="en-US" sz="2200" dirty="0"/>
              <a:t>, 2021.</a:t>
            </a:r>
          </a:p>
          <a:p>
            <a:pPr lvl="0"/>
            <a:r>
              <a:rPr lang="en-US" sz="2200" b="1" dirty="0"/>
              <a:t>[5]</a:t>
            </a:r>
            <a:r>
              <a:rPr lang="en-US" sz="2200" dirty="0"/>
              <a:t> T. Mittal et al., "Emotions Don't Lie: An Audio-Visual Deepfake Detection Method Using Affective Cues," </a:t>
            </a:r>
            <a:r>
              <a:rPr lang="en-US" sz="2200" i="1" dirty="0"/>
              <a:t>ACM MM</a:t>
            </a:r>
            <a:r>
              <a:rPr lang="en-US" sz="2200" dirty="0"/>
              <a:t>, 2020.</a:t>
            </a:r>
          </a:p>
        </p:txBody>
      </p:sp>
    </p:spTree>
    <p:extLst>
      <p:ext uri="{BB962C8B-B14F-4D97-AF65-F5344CB8AC3E}">
        <p14:creationId xmlns:p14="http://schemas.microsoft.com/office/powerpoint/2010/main" val="2966882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39867fdc9_0_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Gap Analysis</a:t>
            </a:r>
            <a:endParaRPr/>
          </a:p>
        </p:txBody>
      </p:sp>
      <p:sp>
        <p:nvSpPr>
          <p:cNvPr id="128" name="Google Shape;128;g2039867fdc9_0_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039867fdc9_0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Gap Analysis</a:t>
            </a:r>
            <a:endParaRPr dirty="0"/>
          </a:p>
        </p:txBody>
      </p:sp>
      <p:sp>
        <p:nvSpPr>
          <p:cNvPr id="134" name="Google Shape;134;g2039867fdc9_0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600" b="1" dirty="0"/>
              <a:t>Multi-Modal Integration:</a:t>
            </a:r>
            <a:r>
              <a:rPr lang="en-US" sz="2600" dirty="0"/>
              <a:t> Lack of simple systems that inspect both face and voice together. </a:t>
            </a:r>
          </a:p>
          <a:p>
            <a:pPr lvl="0"/>
            <a:r>
              <a:rPr lang="en-US" sz="2600" b="1" dirty="0"/>
              <a:t>Deployment Control:</a:t>
            </a:r>
            <a:r>
              <a:rPr lang="en-US" sz="2600" dirty="0"/>
              <a:t> Lack of self-hosted solutions that allow banks to keep customer biometric data on premises. </a:t>
            </a:r>
          </a:p>
          <a:p>
            <a:pPr lvl="0"/>
            <a:r>
              <a:rPr lang="en-US" sz="2600" b="1" dirty="0"/>
              <a:t>Explainability:</a:t>
            </a:r>
            <a:r>
              <a:rPr lang="en-US" sz="2600" dirty="0"/>
              <a:t> Existing detection models rarely explain </a:t>
            </a:r>
            <a:r>
              <a:rPr lang="en-US" sz="2600" i="1" dirty="0"/>
              <a:t>why</a:t>
            </a:r>
            <a:r>
              <a:rPr lang="en-US" sz="2600" dirty="0"/>
              <a:t> a frame was flagged. </a:t>
            </a:r>
          </a:p>
          <a:p>
            <a:pPr lvl="0"/>
            <a:r>
              <a:rPr lang="en-US" sz="2600" b="1" dirty="0"/>
              <a:t>Compliance Reporting:</a:t>
            </a:r>
            <a:r>
              <a:rPr lang="en-US" sz="2600" dirty="0"/>
              <a:t> A missing link between model predictions and official, auditable PDF reports needed for bank compliance.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Problem Statement</a:t>
            </a:r>
            <a:endParaRPr dirty="0"/>
          </a:p>
        </p:txBody>
      </p:sp>
      <p:sp>
        <p:nvSpPr>
          <p:cNvPr id="146" name="Google Shape;146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/>
              <a:t>Remote bank video-KYC </a:t>
            </a:r>
            <a:r>
              <a:rPr lang="en-US" sz="2800" dirty="0"/>
              <a:t>sessions are increasingly vulnerable to face-swap </a:t>
            </a:r>
            <a:r>
              <a:rPr lang="en-US" sz="2800" b="1" dirty="0"/>
              <a:t>deepfakes</a:t>
            </a:r>
            <a:r>
              <a:rPr lang="en-US" sz="2800" dirty="0"/>
              <a:t> and AI voice cloning. </a:t>
            </a:r>
          </a:p>
          <a:p>
            <a:pPr lvl="0"/>
            <a:r>
              <a:rPr lang="en-US" sz="2800" b="1" dirty="0"/>
              <a:t>Bank KYC verification teams lack an affordable</a:t>
            </a:r>
            <a:r>
              <a:rPr lang="en-US" sz="2800" dirty="0"/>
              <a:t>, self-hosted system that can jointly evaluate video and audio channels. </a:t>
            </a:r>
          </a:p>
          <a:p>
            <a:pPr lvl="0"/>
            <a:r>
              <a:rPr lang="en-US" sz="2800" dirty="0"/>
              <a:t>Verification staff need a clear, reliable decision </a:t>
            </a:r>
            <a:r>
              <a:rPr lang="en-US" sz="2800" b="1" dirty="0"/>
              <a:t>(Real, Suspicious, or Fake) </a:t>
            </a:r>
            <a:r>
              <a:rPr lang="en-US" sz="2800" dirty="0"/>
              <a:t>supported by an auditable forensic report.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PROPOSED SOLUTION AND METHODOLOGY</a:t>
            </a:r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Proposed Solution Overview</a:t>
            </a:r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/>
              <a:t>Deep Forensics:</a:t>
            </a:r>
            <a:r>
              <a:rPr lang="en-US" sz="2800" dirty="0"/>
              <a:t> A self-hosted, web-based verification platform built for bank onboarding officers. </a:t>
            </a:r>
          </a:p>
          <a:p>
            <a:pPr lvl="0"/>
            <a:r>
              <a:rPr lang="en-US" sz="2800" dirty="0"/>
              <a:t>Accepts </a:t>
            </a:r>
            <a:r>
              <a:rPr lang="en-US" sz="2800" b="1" dirty="0"/>
              <a:t>short recorded video clips </a:t>
            </a:r>
            <a:r>
              <a:rPr lang="en-US" sz="2800" dirty="0"/>
              <a:t>captured from verification calls. </a:t>
            </a:r>
          </a:p>
          <a:p>
            <a:pPr lvl="0"/>
            <a:r>
              <a:rPr lang="en-US" sz="2800" dirty="0"/>
              <a:t>Runs dual-stream inspection across both video frames and audio tracks. </a:t>
            </a:r>
          </a:p>
          <a:p>
            <a:pPr lvl="0"/>
            <a:r>
              <a:rPr lang="en-US" sz="2800" dirty="0"/>
              <a:t>Delivers an automated verdict along with visual heatmaps and a signed </a:t>
            </a:r>
            <a:r>
              <a:rPr lang="en-US" sz="2800" b="1" dirty="0"/>
              <a:t>audit report</a:t>
            </a:r>
            <a:r>
              <a:rPr lang="en-US" sz="2800" dirty="0"/>
              <a:t>.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CC912B64-8299-A35E-4C9E-386725B0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:a16="http://schemas.microsoft.com/office/drawing/2014/main" id="{C9DF1E79-6805-E88D-90A3-F4D5971357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High-Level System Architecture</a:t>
            </a:r>
            <a:endParaRPr dirty="0"/>
          </a:p>
        </p:txBody>
      </p:sp>
      <p:sp>
        <p:nvSpPr>
          <p:cNvPr id="158" name="Google Shape;158;p11">
            <a:extLst>
              <a:ext uri="{FF2B5EF4-FFF2-40B4-BE49-F238E27FC236}">
                <a16:creationId xmlns:a16="http://schemas.microsoft.com/office/drawing/2014/main" id="{25389A3D-2391-91CC-96EF-FB5708A64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b="1" dirty="0"/>
              <a:t>Input Layer:</a:t>
            </a:r>
            <a:r>
              <a:rPr lang="en-US" sz="2400" dirty="0"/>
              <a:t> KYC officer uploads the recorded video clip to the web dashboard. </a:t>
            </a:r>
          </a:p>
          <a:p>
            <a:pPr lvl="0"/>
            <a:r>
              <a:rPr lang="en-US" sz="2400" b="1" dirty="0"/>
              <a:t>Splitting Stage:</a:t>
            </a:r>
            <a:r>
              <a:rPr lang="en-US" sz="2400" dirty="0"/>
              <a:t> Video frames and audio streams are separated automatically. </a:t>
            </a:r>
          </a:p>
          <a:p>
            <a:pPr lvl="0"/>
            <a:r>
              <a:rPr lang="en-US" sz="2400" b="1" dirty="0"/>
              <a:t>Analysis Stage:</a:t>
            </a:r>
            <a:r>
              <a:rPr lang="en-US" sz="2400" dirty="0"/>
              <a:t> Module A processes visual frames; Module B processes the audio track. </a:t>
            </a:r>
          </a:p>
          <a:p>
            <a:pPr lvl="0"/>
            <a:r>
              <a:rPr lang="en-US" sz="2400" b="1" dirty="0"/>
              <a:t>Fusion Layer:</a:t>
            </a:r>
            <a:r>
              <a:rPr lang="en-US" sz="2400" dirty="0"/>
              <a:t> Combines image and audio scores using defined decision rules. </a:t>
            </a:r>
          </a:p>
          <a:p>
            <a:pPr lvl="0"/>
            <a:r>
              <a:rPr lang="en-US" sz="2400" b="1" dirty="0"/>
              <a:t>Output Layer:</a:t>
            </a:r>
            <a:r>
              <a:rPr lang="en-US" sz="2400" dirty="0"/>
              <a:t> Displays results on the dashboard and generates a downloadable PDF report.</a:t>
            </a:r>
          </a:p>
        </p:txBody>
      </p:sp>
    </p:spTree>
    <p:extLst>
      <p:ext uri="{BB962C8B-B14F-4D97-AF65-F5344CB8AC3E}">
        <p14:creationId xmlns:p14="http://schemas.microsoft.com/office/powerpoint/2010/main" val="1398063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8B2FA64E-41D0-0FCA-AE3B-607C964B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:a16="http://schemas.microsoft.com/office/drawing/2014/main" id="{ADA285CD-9FB3-D542-0B6D-EE4F7E7B7B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Module A – Face &amp; Image Forensics</a:t>
            </a:r>
            <a:endParaRPr dirty="0"/>
          </a:p>
        </p:txBody>
      </p:sp>
      <p:sp>
        <p:nvSpPr>
          <p:cNvPr id="158" name="Google Shape;158;p11">
            <a:extLst>
              <a:ext uri="{FF2B5EF4-FFF2-40B4-BE49-F238E27FC236}">
                <a16:creationId xmlns:a16="http://schemas.microsoft.com/office/drawing/2014/main" id="{836A8537-8301-6BC7-CC48-032DDC401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/>
              <a:t>Extracts individual frames </a:t>
            </a:r>
            <a:r>
              <a:rPr lang="en-US" sz="2800" dirty="0"/>
              <a:t>from the uploaded video clip. </a:t>
            </a:r>
          </a:p>
          <a:p>
            <a:pPr lvl="0"/>
            <a:r>
              <a:rPr lang="en-US" sz="2800" dirty="0"/>
              <a:t>Detects and crops the facial region in each frame. </a:t>
            </a:r>
          </a:p>
          <a:p>
            <a:pPr lvl="0"/>
            <a:r>
              <a:rPr lang="en-US" sz="2800" dirty="0"/>
              <a:t>Passes cropped face images through a pre-trained deepfake image classifier (such as </a:t>
            </a:r>
            <a:r>
              <a:rPr lang="en-US" sz="2800" dirty="0" err="1"/>
              <a:t>EfficientNet</a:t>
            </a:r>
            <a:r>
              <a:rPr lang="en-US" sz="2800" dirty="0"/>
              <a:t> or </a:t>
            </a:r>
            <a:r>
              <a:rPr lang="en-US" sz="2800" dirty="0" err="1"/>
              <a:t>Xception</a:t>
            </a:r>
            <a:r>
              <a:rPr lang="en-US" sz="2800" dirty="0"/>
              <a:t>). </a:t>
            </a:r>
          </a:p>
          <a:p>
            <a:pPr lvl="0"/>
            <a:r>
              <a:rPr lang="en-US" sz="2800" dirty="0"/>
              <a:t>Calculates a visual manipulation </a:t>
            </a:r>
            <a:r>
              <a:rPr lang="en-US" sz="2800" b="1" dirty="0"/>
              <a:t>score</a:t>
            </a:r>
            <a:r>
              <a:rPr lang="en-US" sz="2800" dirty="0"/>
              <a:t> based on model </a:t>
            </a:r>
            <a:r>
              <a:rPr lang="en-US" sz="2800" b="1" dirty="0"/>
              <a:t>predictions</a:t>
            </a:r>
            <a:r>
              <a:rPr lang="en-US" sz="2800" dirty="0"/>
              <a:t> across sampled frames. </a:t>
            </a:r>
          </a:p>
        </p:txBody>
      </p:sp>
    </p:spTree>
    <p:extLst>
      <p:ext uri="{BB962C8B-B14F-4D97-AF65-F5344CB8AC3E}">
        <p14:creationId xmlns:p14="http://schemas.microsoft.com/office/powerpoint/2010/main" val="1076681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D2D7FC92-7DD0-E11B-AA02-1F04F190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:a16="http://schemas.microsoft.com/office/drawing/2014/main" id="{6404777D-E174-7CD3-CFD4-89601EDD0C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Visual Explainability (Grad-CAM)</a:t>
            </a:r>
            <a:endParaRPr dirty="0"/>
          </a:p>
        </p:txBody>
      </p:sp>
      <p:sp>
        <p:nvSpPr>
          <p:cNvPr id="158" name="Google Shape;158;p11">
            <a:extLst>
              <a:ext uri="{FF2B5EF4-FFF2-40B4-BE49-F238E27FC236}">
                <a16:creationId xmlns:a16="http://schemas.microsoft.com/office/drawing/2014/main" id="{79EF150C-B8FA-E79F-CB3F-E8047006B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700" dirty="0"/>
              <a:t>Uses Grad-CAM (Gradient-weighted Class Activation Mapping) on suspect frames. </a:t>
            </a:r>
          </a:p>
          <a:p>
            <a:pPr lvl="0"/>
            <a:r>
              <a:rPr lang="en-US" sz="2700" dirty="0"/>
              <a:t>Produces a visual heatmap overlay directly on the applicant's face. </a:t>
            </a:r>
          </a:p>
          <a:p>
            <a:pPr lvl="0"/>
            <a:r>
              <a:rPr lang="en-US" sz="2700" dirty="0"/>
              <a:t>Highlights the </a:t>
            </a:r>
            <a:r>
              <a:rPr lang="en-US" sz="2700" b="1" dirty="0"/>
              <a:t>exact</a:t>
            </a:r>
            <a:r>
              <a:rPr lang="en-US" sz="2700" dirty="0"/>
              <a:t> </a:t>
            </a:r>
            <a:r>
              <a:rPr lang="en-US" sz="2700" b="1" dirty="0"/>
              <a:t>facial</a:t>
            </a:r>
            <a:r>
              <a:rPr lang="en-US" sz="2700" dirty="0"/>
              <a:t> </a:t>
            </a:r>
            <a:r>
              <a:rPr lang="en-US" sz="2700" b="1" dirty="0"/>
              <a:t>regions</a:t>
            </a:r>
            <a:r>
              <a:rPr lang="en-US" sz="2700" dirty="0"/>
              <a:t> (such as eyes, mouth, or blending boundaries) that triggered the classifier. </a:t>
            </a:r>
          </a:p>
          <a:p>
            <a:pPr lvl="0"/>
            <a:r>
              <a:rPr lang="en-US" sz="2700" dirty="0"/>
              <a:t>Helps verification officers understand the reason behind a </a:t>
            </a:r>
            <a:r>
              <a:rPr lang="en-US" sz="2700" b="1" dirty="0"/>
              <a:t>flagged</a:t>
            </a:r>
            <a:r>
              <a:rPr lang="en-US" sz="2700" dirty="0"/>
              <a:t> </a:t>
            </a:r>
            <a:r>
              <a:rPr lang="en-US" sz="2700" b="1" dirty="0"/>
              <a:t>video</a:t>
            </a:r>
            <a:r>
              <a:rPr lang="en-US" sz="2700" dirty="0"/>
              <a:t> instead of trusting a blind score.</a:t>
            </a:r>
          </a:p>
        </p:txBody>
      </p:sp>
    </p:spTree>
    <p:extLst>
      <p:ext uri="{BB962C8B-B14F-4D97-AF65-F5344CB8AC3E}">
        <p14:creationId xmlns:p14="http://schemas.microsoft.com/office/powerpoint/2010/main" val="2099114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86BEBD3-ECD6-247D-CD1A-4E0C6F37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:a16="http://schemas.microsoft.com/office/drawing/2014/main" id="{057B3A6A-F236-6354-D830-A785B3BCB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Module B – Audio Forensics</a:t>
            </a:r>
            <a:endParaRPr dirty="0"/>
          </a:p>
        </p:txBody>
      </p:sp>
      <p:sp>
        <p:nvSpPr>
          <p:cNvPr id="158" name="Google Shape;158;p11">
            <a:extLst>
              <a:ext uri="{FF2B5EF4-FFF2-40B4-BE49-F238E27FC236}">
                <a16:creationId xmlns:a16="http://schemas.microsoft.com/office/drawing/2014/main" id="{3FCBFAEF-6FE8-8A18-E513-7822D22B8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Isolates the </a:t>
            </a:r>
            <a:r>
              <a:rPr lang="en-US" b="1" dirty="0"/>
              <a:t>raw</a:t>
            </a:r>
            <a:r>
              <a:rPr lang="en-US" dirty="0"/>
              <a:t> </a:t>
            </a:r>
            <a:r>
              <a:rPr lang="en-US" b="1" dirty="0"/>
              <a:t>audio</a:t>
            </a:r>
            <a:r>
              <a:rPr lang="en-US" dirty="0"/>
              <a:t> stream from the uploaded video file. </a:t>
            </a:r>
          </a:p>
          <a:p>
            <a:pPr lvl="0"/>
            <a:r>
              <a:rPr lang="en-US" dirty="0"/>
              <a:t>Converts the audio</a:t>
            </a:r>
            <a:r>
              <a:rPr lang="en-US" b="1" dirty="0"/>
              <a:t> signal into mel-spectrogram</a:t>
            </a:r>
            <a:r>
              <a:rPr lang="en-US" dirty="0"/>
              <a:t> representations. </a:t>
            </a:r>
          </a:p>
          <a:p>
            <a:pPr lvl="0"/>
            <a:r>
              <a:rPr lang="en-US" dirty="0"/>
              <a:t>Runs the features through a pre-trained synthetic speech detection model. </a:t>
            </a:r>
          </a:p>
          <a:p>
            <a:pPr lvl="0"/>
            <a:r>
              <a:rPr lang="en-US" dirty="0"/>
              <a:t>Generates an </a:t>
            </a:r>
            <a:r>
              <a:rPr lang="en-US" b="1" dirty="0"/>
              <a:t>audio spoofing score </a:t>
            </a:r>
            <a:r>
              <a:rPr lang="en-US" dirty="0"/>
              <a:t>indicating whether the voice is </a:t>
            </a:r>
            <a:r>
              <a:rPr lang="en-US" b="1" dirty="0"/>
              <a:t>natural</a:t>
            </a:r>
            <a:r>
              <a:rPr lang="en-US" dirty="0"/>
              <a:t> or </a:t>
            </a:r>
            <a:r>
              <a:rPr lang="en-US" b="1" dirty="0"/>
              <a:t>synthetic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37845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768519D3-6A31-B6E7-B56E-3E728184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:a16="http://schemas.microsoft.com/office/drawing/2014/main" id="{415DD2D7-2318-C006-24F6-44320B771E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Fusion &amp; Decision Logic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11">
                <a:extLst>
                  <a:ext uri="{FF2B5EF4-FFF2-40B4-BE49-F238E27FC236}">
                    <a16:creationId xmlns:a16="http://schemas.microsoft.com/office/drawing/2014/main" id="{B5FDCC31-387E-B869-FB3D-495E5AF8FE3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lvl="0"/>
                <a:r>
                  <a:rPr lang="en-US" sz="2400" dirty="0"/>
                  <a:t>Combines the visual score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/>
                  <a:t>) and audio score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/>
                  <a:t>) using a clear, rule-based approach: </a:t>
                </a:r>
              </a:p>
              <a:p>
                <a:pPr lvl="1"/>
                <a:r>
                  <a:rPr lang="en-US" sz="2400" b="1" dirty="0"/>
                  <a:t>REAL:</a:t>
                </a:r>
                <a:r>
                  <a:rPr lang="en-US" sz="2400" dirty="0"/>
                  <a:t> Both visual and audio scores fall below the suspicion threshold. </a:t>
                </a:r>
              </a:p>
              <a:p>
                <a:pPr lvl="1"/>
                <a:r>
                  <a:rPr lang="en-US" sz="2400" b="1" dirty="0"/>
                  <a:t>SUSPICIOUS:</a:t>
                </a:r>
                <a:r>
                  <a:rPr lang="en-US" sz="2400" dirty="0"/>
                  <a:t> One modality shows anomalies or scores fall in an uncertain boundary range. </a:t>
                </a:r>
              </a:p>
              <a:p>
                <a:pPr lvl="1"/>
                <a:r>
                  <a:rPr lang="en-US" sz="2400" b="1" dirty="0"/>
                  <a:t>FAKE:</a:t>
                </a:r>
                <a:r>
                  <a:rPr lang="en-US" sz="2400" dirty="0"/>
                  <a:t> Both modalities show high manipulation scores, or one shows definite spoofing. </a:t>
                </a:r>
              </a:p>
              <a:p>
                <a:pPr lvl="0"/>
                <a:r>
                  <a:rPr lang="en-US" sz="2400" dirty="0"/>
                  <a:t>Rule-based logic ensures thresholds can be adjusted to match a bank’s internal risk tolerance</a:t>
                </a:r>
              </a:p>
            </p:txBody>
          </p:sp>
        </mc:Choice>
        <mc:Fallback xmlns="">
          <p:sp>
            <p:nvSpPr>
              <p:cNvPr id="158" name="Google Shape;158;p11">
                <a:extLst>
                  <a:ext uri="{FF2B5EF4-FFF2-40B4-BE49-F238E27FC236}">
                    <a16:creationId xmlns:a16="http://schemas.microsoft.com/office/drawing/2014/main" id="{B5FDCC31-387E-B869-FB3D-495E5AF8FE3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>
                <a:blip r:embed="rId3"/>
                <a:stretch>
                  <a:fillRect t="-135" r="-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323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538402B-37CC-B7FA-9EC7-4DD361D9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:a16="http://schemas.microsoft.com/office/drawing/2014/main" id="{94BDF4F8-AE97-B11A-269E-5EEEAB95D6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Forensic Reporting &amp; Web Dashboard</a:t>
            </a:r>
            <a:endParaRPr dirty="0"/>
          </a:p>
        </p:txBody>
      </p:sp>
      <p:sp>
        <p:nvSpPr>
          <p:cNvPr id="158" name="Google Shape;158;p11">
            <a:extLst>
              <a:ext uri="{FF2B5EF4-FFF2-40B4-BE49-F238E27FC236}">
                <a16:creationId xmlns:a16="http://schemas.microsoft.com/office/drawing/2014/main" id="{FF57D35E-3287-1240-6737-B89957F27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b="1" dirty="0"/>
              <a:t>Simple web dashboard </a:t>
            </a:r>
            <a:r>
              <a:rPr lang="en-US" dirty="0"/>
              <a:t>designed </a:t>
            </a:r>
            <a:r>
              <a:rPr lang="en-US" b="1" dirty="0"/>
              <a:t>for non-technical bank compliance officers</a:t>
            </a:r>
            <a:r>
              <a:rPr lang="en-US" dirty="0"/>
              <a:t>. </a:t>
            </a:r>
          </a:p>
          <a:p>
            <a:pPr lvl="0"/>
            <a:r>
              <a:rPr lang="en-US" b="1" dirty="0"/>
              <a:t>Drag-and-drop</a:t>
            </a:r>
            <a:r>
              <a:rPr lang="en-US" dirty="0"/>
              <a:t> file upload with progress tracking. </a:t>
            </a:r>
          </a:p>
          <a:p>
            <a:pPr lvl="0"/>
            <a:r>
              <a:rPr lang="en-US" dirty="0"/>
              <a:t>Immediate screen display of the final verdict: Real, Suspicious, or Fake. </a:t>
            </a:r>
          </a:p>
          <a:p>
            <a:pPr lvl="0"/>
            <a:r>
              <a:rPr lang="en-US" dirty="0"/>
              <a:t>Breakdown showing separate </a:t>
            </a:r>
            <a:r>
              <a:rPr lang="en-US" b="1" dirty="0"/>
              <a:t>visual score</a:t>
            </a:r>
            <a:r>
              <a:rPr lang="en-US" dirty="0"/>
              <a:t>, </a:t>
            </a:r>
            <a:r>
              <a:rPr lang="en-US" b="1" dirty="0"/>
              <a:t>audio score</a:t>
            </a:r>
            <a:r>
              <a:rPr lang="en-US" dirty="0"/>
              <a:t>, and flagged frame previews.</a:t>
            </a:r>
          </a:p>
        </p:txBody>
      </p:sp>
    </p:spTree>
    <p:extLst>
      <p:ext uri="{BB962C8B-B14F-4D97-AF65-F5344CB8AC3E}">
        <p14:creationId xmlns:p14="http://schemas.microsoft.com/office/powerpoint/2010/main" val="3625876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75B70414-E2DB-6B52-90DE-A5A628CC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:a16="http://schemas.microsoft.com/office/drawing/2014/main" id="{7AE913AD-201C-8680-1F4B-52BB9B0501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Audit Trail &amp; Report Generation</a:t>
            </a:r>
            <a:endParaRPr dirty="0"/>
          </a:p>
        </p:txBody>
      </p:sp>
      <p:sp>
        <p:nvSpPr>
          <p:cNvPr id="158" name="Google Shape;158;p11">
            <a:extLst>
              <a:ext uri="{FF2B5EF4-FFF2-40B4-BE49-F238E27FC236}">
                <a16:creationId xmlns:a16="http://schemas.microsoft.com/office/drawing/2014/main" id="{44F9B197-1405-AEC8-9CC1-AB858C4FE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/>
              <a:t>Generates an official downloadable PDF </a:t>
            </a:r>
            <a:r>
              <a:rPr lang="en-US" sz="2800" dirty="0"/>
              <a:t>verification report. </a:t>
            </a:r>
          </a:p>
          <a:p>
            <a:pPr lvl="0"/>
            <a:r>
              <a:rPr lang="en-US" sz="2800" dirty="0"/>
              <a:t>Includes </a:t>
            </a:r>
            <a:r>
              <a:rPr lang="en-US" sz="2800" b="1" dirty="0"/>
              <a:t>session timestamp</a:t>
            </a:r>
            <a:r>
              <a:rPr lang="en-US" sz="2800" dirty="0"/>
              <a:t>, applicant identifier, final verdict, and model scores. </a:t>
            </a:r>
          </a:p>
          <a:p>
            <a:pPr lvl="0"/>
            <a:r>
              <a:rPr lang="en-US" sz="2800" dirty="0"/>
              <a:t>Embeds the Grad-CAM explainability heatmap directly into the document. </a:t>
            </a:r>
          </a:p>
          <a:p>
            <a:pPr lvl="0"/>
            <a:r>
              <a:rPr lang="en-US" sz="2800" dirty="0"/>
              <a:t>Calculates a cryptographic content hash (such as </a:t>
            </a:r>
            <a:r>
              <a:rPr lang="en-US" sz="2800" b="1" dirty="0"/>
              <a:t>SHA-256</a:t>
            </a:r>
            <a:r>
              <a:rPr lang="en-US" sz="2800" dirty="0"/>
              <a:t>) of the video file to prevent record tampering.</a:t>
            </a:r>
          </a:p>
        </p:txBody>
      </p:sp>
    </p:spTree>
    <p:extLst>
      <p:ext uri="{BB962C8B-B14F-4D97-AF65-F5344CB8AC3E}">
        <p14:creationId xmlns:p14="http://schemas.microsoft.com/office/powerpoint/2010/main" val="4110621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581A93E3-C80F-C471-88A2-40AD7A12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:a16="http://schemas.microsoft.com/office/drawing/2014/main" id="{5B0714F5-8B91-72AA-C158-F2744D446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Datasets &amp; Evaluation Strategy</a:t>
            </a:r>
            <a:endParaRPr dirty="0"/>
          </a:p>
        </p:txBody>
      </p:sp>
      <p:sp>
        <p:nvSpPr>
          <p:cNvPr id="158" name="Google Shape;158;p11">
            <a:extLst>
              <a:ext uri="{FF2B5EF4-FFF2-40B4-BE49-F238E27FC236}">
                <a16:creationId xmlns:a16="http://schemas.microsoft.com/office/drawing/2014/main" id="{A80F7B5A-3062-6416-805C-93E8E04D5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b="1" dirty="0"/>
              <a:t>Visual Evaluation:</a:t>
            </a:r>
            <a:r>
              <a:rPr lang="en-US" dirty="0"/>
              <a:t> Tested on standard benchmark subsets from </a:t>
            </a:r>
            <a:r>
              <a:rPr lang="en-US" dirty="0" err="1"/>
              <a:t>FaceForensics</a:t>
            </a:r>
            <a:r>
              <a:rPr lang="en-US" dirty="0"/>
              <a:t>++ and DFDC (Deepfake Detection Challenge). </a:t>
            </a:r>
          </a:p>
          <a:p>
            <a:pPr lvl="0"/>
            <a:r>
              <a:rPr lang="en-US" b="1" dirty="0"/>
              <a:t>Audio Evaluation:</a:t>
            </a:r>
            <a:r>
              <a:rPr lang="en-US" dirty="0"/>
              <a:t> Tested on benchmark voice-spoof subsets from the </a:t>
            </a:r>
            <a:r>
              <a:rPr lang="en-US" dirty="0" err="1"/>
              <a:t>ASVspoof</a:t>
            </a:r>
            <a:r>
              <a:rPr lang="en-US" dirty="0"/>
              <a:t> dataset. </a:t>
            </a:r>
          </a:p>
          <a:p>
            <a:pPr lvl="0"/>
            <a:r>
              <a:rPr lang="en-US" b="1" dirty="0"/>
              <a:t>Metrics Tracked:</a:t>
            </a:r>
            <a:r>
              <a:rPr lang="en-US" dirty="0"/>
              <a:t> Accuracy, Precision, Recall, and False Acceptance Rate (FAR). </a:t>
            </a:r>
          </a:p>
        </p:txBody>
      </p:sp>
    </p:spTree>
    <p:extLst>
      <p:ext uri="{BB962C8B-B14F-4D97-AF65-F5344CB8AC3E}">
        <p14:creationId xmlns:p14="http://schemas.microsoft.com/office/powerpoint/2010/main" val="2149736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SCOPE</a:t>
            </a:r>
            <a:endParaRPr/>
          </a:p>
        </p:txBody>
      </p:sp>
      <p:sp>
        <p:nvSpPr>
          <p:cNvPr id="164" name="Google Shape;164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Project Scope – In Scope</a:t>
            </a:r>
            <a:endParaRPr dirty="0"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600" dirty="0"/>
              <a:t>Visual </a:t>
            </a:r>
            <a:r>
              <a:rPr lang="en-US" sz="2600" b="1" dirty="0"/>
              <a:t>deepfake</a:t>
            </a:r>
            <a:r>
              <a:rPr lang="en-US" sz="2600" dirty="0"/>
              <a:t> </a:t>
            </a:r>
            <a:r>
              <a:rPr lang="en-US" sz="2600" b="1" dirty="0"/>
              <a:t>detection</a:t>
            </a:r>
            <a:r>
              <a:rPr lang="en-US" sz="2600" dirty="0"/>
              <a:t> using pre-trained computer vision models. </a:t>
            </a:r>
          </a:p>
          <a:p>
            <a:pPr lvl="0"/>
            <a:r>
              <a:rPr lang="en-US" sz="2600" b="1" dirty="0"/>
              <a:t>Synthetic</a:t>
            </a:r>
            <a:r>
              <a:rPr lang="en-US" sz="2600" dirty="0"/>
              <a:t> </a:t>
            </a:r>
            <a:r>
              <a:rPr lang="en-US" sz="2600" b="1" dirty="0"/>
              <a:t>voice</a:t>
            </a:r>
            <a:r>
              <a:rPr lang="en-US" sz="2600" dirty="0"/>
              <a:t> </a:t>
            </a:r>
            <a:r>
              <a:rPr lang="en-US" sz="2600" b="1" dirty="0"/>
              <a:t>detection</a:t>
            </a:r>
            <a:r>
              <a:rPr lang="en-US" sz="2600" dirty="0"/>
              <a:t> using pre-trained audio classification models. </a:t>
            </a:r>
          </a:p>
          <a:p>
            <a:pPr lvl="0"/>
            <a:r>
              <a:rPr lang="en-US" sz="2600" dirty="0"/>
              <a:t>Transparent rule-based fusion logic combining both scores. </a:t>
            </a:r>
          </a:p>
          <a:p>
            <a:pPr lvl="0"/>
            <a:r>
              <a:rPr lang="en-US" sz="2600" dirty="0"/>
              <a:t>Grad-CAM visual heatmaps for face manipulation. </a:t>
            </a:r>
          </a:p>
          <a:p>
            <a:pPr lvl="0"/>
            <a:r>
              <a:rPr lang="en-US" sz="2600" dirty="0"/>
              <a:t>Functional web dashboard for file upload and verdict display. </a:t>
            </a:r>
          </a:p>
          <a:p>
            <a:pPr lvl="0"/>
            <a:r>
              <a:rPr lang="en-US" sz="2600" b="1" dirty="0"/>
              <a:t>Downloadable</a:t>
            </a:r>
            <a:r>
              <a:rPr lang="en-US" sz="2600" dirty="0"/>
              <a:t> </a:t>
            </a:r>
            <a:r>
              <a:rPr lang="en-US" sz="2600" b="1" dirty="0"/>
              <a:t>PDF</a:t>
            </a:r>
            <a:r>
              <a:rPr lang="en-US" sz="2600" dirty="0"/>
              <a:t> </a:t>
            </a:r>
            <a:r>
              <a:rPr lang="en-US" sz="2600" b="1" dirty="0"/>
              <a:t>report</a:t>
            </a:r>
            <a:r>
              <a:rPr lang="en-US" sz="2600" dirty="0"/>
              <a:t> containing a content hash. 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F66AB1BB-E2F1-2658-5F52-3A243A40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>
            <a:extLst>
              <a:ext uri="{FF2B5EF4-FFF2-40B4-BE49-F238E27FC236}">
                <a16:creationId xmlns:a16="http://schemas.microsoft.com/office/drawing/2014/main" id="{47A30A0B-E333-765F-AF0B-4331514BF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Project Scope – Out of Scope</a:t>
            </a:r>
            <a:endParaRPr dirty="0"/>
          </a:p>
        </p:txBody>
      </p:sp>
      <p:sp>
        <p:nvSpPr>
          <p:cNvPr id="170" name="Google Shape;170;p13">
            <a:extLst>
              <a:ext uri="{FF2B5EF4-FFF2-40B4-BE49-F238E27FC236}">
                <a16:creationId xmlns:a16="http://schemas.microsoft.com/office/drawing/2014/main" id="{9CC02E8D-6A55-C334-6F3A-9310B3719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3000" b="1" dirty="0"/>
              <a:t>Real-time</a:t>
            </a:r>
            <a:r>
              <a:rPr lang="en-US" sz="3000" dirty="0"/>
              <a:t> live camera stream interception during calls (works on recorded verification clips). </a:t>
            </a:r>
          </a:p>
          <a:p>
            <a:pPr lvl="0"/>
            <a:r>
              <a:rPr lang="en-US" sz="3000" b="1" dirty="0"/>
              <a:t>Training</a:t>
            </a:r>
            <a:r>
              <a:rPr lang="en-US" sz="3000" dirty="0"/>
              <a:t> </a:t>
            </a:r>
            <a:r>
              <a:rPr lang="en-US" sz="3000" b="1" dirty="0"/>
              <a:t>brand-new</a:t>
            </a:r>
            <a:r>
              <a:rPr lang="en-US" sz="3000" dirty="0"/>
              <a:t> neural network architectures from scratch. </a:t>
            </a:r>
          </a:p>
          <a:p>
            <a:pPr lvl="0"/>
            <a:r>
              <a:rPr lang="en-US" sz="3000" dirty="0"/>
              <a:t>Direct database or API integration into live banking core production systems. </a:t>
            </a:r>
          </a:p>
          <a:p>
            <a:pPr lvl="0"/>
            <a:r>
              <a:rPr lang="en-US" sz="3000" dirty="0"/>
              <a:t>Dedicated native mobile applications (iOS/Android).</a:t>
            </a:r>
          </a:p>
        </p:txBody>
      </p:sp>
    </p:spTree>
    <p:extLst>
      <p:ext uri="{BB962C8B-B14F-4D97-AF65-F5344CB8AC3E}">
        <p14:creationId xmlns:p14="http://schemas.microsoft.com/office/powerpoint/2010/main" val="1395733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CONSTRAINTS AND LIMITATIONS</a:t>
            </a:r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Constraints &amp; Limitations</a:t>
            </a:r>
            <a:endParaRPr dirty="0"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3000" b="1" dirty="0"/>
              <a:t>Compute Constraints:</a:t>
            </a:r>
            <a:r>
              <a:rPr lang="en-US" sz="3000" dirty="0"/>
              <a:t> Model inference speed depends on available GPU/CPU hosting hardware.</a:t>
            </a:r>
          </a:p>
          <a:p>
            <a:pPr lvl="0"/>
            <a:r>
              <a:rPr lang="en-US" sz="3000" b="1" dirty="0"/>
              <a:t>Compression Impact:</a:t>
            </a:r>
            <a:r>
              <a:rPr lang="en-US" sz="3000" dirty="0"/>
              <a:t> Heavily compressed video clips from low-bandwidth connections can degrade detection accuracy.</a:t>
            </a:r>
          </a:p>
          <a:p>
            <a:pPr lvl="0"/>
            <a:r>
              <a:rPr lang="en-US" sz="3000" b="1" dirty="0"/>
              <a:t>Near Real-Time Processing:</a:t>
            </a:r>
            <a:r>
              <a:rPr lang="en-US" sz="3000" dirty="0"/>
              <a:t> Analysis takes a short processing interval rather than executing instantaneously. 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3BD9C4C-8830-100B-F7E1-4BA2E0510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4F489ECD-F71A-6891-4832-BD865487E4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Work Breakdown Structure</a:t>
            </a:r>
            <a:endParaRPr dirty="0"/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FC969471-30AA-B2D9-1539-BACABFF1B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716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B50BF6E-5A89-D092-A01B-17A5E5405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667394A3-6661-E87F-7E1A-0E19F0402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Work Breakdown Structure</a:t>
            </a:r>
            <a:endParaRPr dirty="0"/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FA1AFD1D-F589-C6E8-F16D-0808723BD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5128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600" b="1" dirty="0"/>
              <a:t>Phase 1: Project Setup &amp; Data Acquisition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Define functional system requirements for bank KYC compliance.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Collect and prepare benchmark evaluation datasets (</a:t>
            </a:r>
            <a:r>
              <a:rPr lang="en-US" sz="1600" dirty="0" err="1"/>
              <a:t>FaceForensics</a:t>
            </a:r>
            <a:r>
              <a:rPr lang="en-US" sz="1600" dirty="0"/>
              <a:t>++, DFDC subsets, and </a:t>
            </a:r>
            <a:r>
              <a:rPr lang="en-US" sz="1600" dirty="0" err="1"/>
              <a:t>ASVspoof</a:t>
            </a:r>
            <a:r>
              <a:rPr lang="en-US" sz="1600" dirty="0"/>
              <a:t>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Build the initial data-preprocessing pipeline for video and audio separation. </a:t>
            </a:r>
          </a:p>
          <a:p>
            <a:pPr lvl="0"/>
            <a:r>
              <a:rPr lang="en-US" sz="1600" b="1" dirty="0"/>
              <a:t>Phase 2: Module A – Visual Forensics Pipeline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Video frame extraction and facial bounding box detection.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Face cropping and normalization for classifier input.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Integration and inference setup for pre-trained CNN backbones (e.g., </a:t>
            </a:r>
            <a:r>
              <a:rPr lang="en-US" sz="1600" dirty="0" err="1"/>
              <a:t>EfficientNet</a:t>
            </a:r>
            <a:r>
              <a:rPr lang="en-US" sz="1600" dirty="0"/>
              <a:t> / </a:t>
            </a:r>
            <a:r>
              <a:rPr lang="en-US" sz="1600" dirty="0" err="1"/>
              <a:t>Xception</a:t>
            </a:r>
            <a:r>
              <a:rPr lang="en-US" sz="1600" dirty="0"/>
              <a:t>). </a:t>
            </a:r>
          </a:p>
          <a:p>
            <a:pPr lvl="1"/>
            <a:r>
              <a:rPr lang="en-US" sz="1600" dirty="0"/>
              <a:t>Grad-CAM implementation to generate facial manipulation heatmaps. </a:t>
            </a:r>
          </a:p>
          <a:p>
            <a:pPr lvl="0"/>
            <a:r>
              <a:rPr lang="en-US" sz="1600" b="1" dirty="0"/>
              <a:t>Phase 3: Module B – Audio Forensics Pipeline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Audio track </a:t>
            </a:r>
            <a:r>
              <a:rPr lang="en-US" sz="1600" dirty="0" err="1"/>
              <a:t>demuxing</a:t>
            </a:r>
            <a:r>
              <a:rPr lang="en-US" sz="1600" dirty="0"/>
              <a:t> and conversion from MP4/AVI clips.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Mel-spectrogram generation and feature extraction using </a:t>
            </a:r>
            <a:r>
              <a:rPr lang="en-US" sz="1600" dirty="0" err="1"/>
              <a:t>Librosa</a:t>
            </a:r>
            <a:r>
              <a:rPr lang="en-US" sz="1600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Integration of pre-trained synthetic speech/voice-clone detection model.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Score normalization for acoustic manipulation likelihood. </a:t>
            </a:r>
          </a:p>
          <a:p>
            <a:pPr marL="11430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37862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6DD30EA2-0190-4FD2-8DC9-E563B1F9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68132A4D-1FC3-40B9-8A84-82B4FB36F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Work Breakdown Structure</a:t>
            </a:r>
            <a:endParaRPr dirty="0"/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AD51567F-4978-E6B5-1ACB-09B18176C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600" b="1" dirty="0"/>
              <a:t>Phase 4: Fusion Engine &amp; Decision Logic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Design transparent, rule-based scoring logic combining visual and audio outputs.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Calibration of classification thresholds (Real, Suspicious, Fake).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Edge-case handling for missing audio channels or corrupted video frames.</a:t>
            </a:r>
          </a:p>
          <a:p>
            <a:pPr lvl="0"/>
            <a:r>
              <a:rPr lang="en-US" sz="1600" b="1" dirty="0"/>
              <a:t>Phase 5: Web Platform &amp; Forensic Reporting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Development of the KYC officer dashboard (file upload, progress monitor, results view).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Heatmap display rendering for flagged frames.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Automated PDF engine to compile visual evidence, metrics, and session details.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SHA-256 cryptographic hashing for file integrity and tamper-proof audit trails. </a:t>
            </a:r>
          </a:p>
          <a:p>
            <a:pPr lvl="0"/>
            <a:r>
              <a:rPr lang="en-US" sz="1600" b="1" dirty="0"/>
              <a:t>Phase 6: Testing, Evaluation &amp; Documentation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Performance benchmarking against public test splits (accuracy, precision, recall, FAR).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Mid-term and final project reports, code repository cleanup, and FYP defense prep. </a:t>
            </a:r>
          </a:p>
        </p:txBody>
      </p:sp>
    </p:spTree>
    <p:extLst>
      <p:ext uri="{BB962C8B-B14F-4D97-AF65-F5344CB8AC3E}">
        <p14:creationId xmlns:p14="http://schemas.microsoft.com/office/powerpoint/2010/main" val="397797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E9D40A9F-4CAE-0AD7-BB33-4A3CC089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9FD5F708-C4B8-B8FE-686A-1AE59F597F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Team Roles &amp; Responsibilities</a:t>
            </a:r>
            <a:endParaRPr dirty="0"/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964F1A0F-1552-1058-5F4D-9D08A80A73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b="1" dirty="0"/>
              <a:t>Sultan (56189):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Visual Forensics pipeline (Module A)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Grad-CAM explainability integration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Backend API development and fusion logic implementation </a:t>
            </a:r>
          </a:p>
          <a:p>
            <a:pPr lvl="0"/>
            <a:r>
              <a:rPr lang="en-US" sz="2400" b="1" dirty="0"/>
              <a:t>Ch Mubashir (56892):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Audio Forensics pipeline (Module B)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Audio feature extraction (mel-spectrograms)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Web dashboard user interface and PDF report generation engine </a:t>
            </a:r>
          </a:p>
        </p:txBody>
      </p:sp>
    </p:spTree>
    <p:extLst>
      <p:ext uri="{BB962C8B-B14F-4D97-AF65-F5344CB8AC3E}">
        <p14:creationId xmlns:p14="http://schemas.microsoft.com/office/powerpoint/2010/main" val="2806645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12C28E7-4F91-4A15-E2D0-5D98FAC5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24CF1FF3-D8EB-18B2-B903-BC4BEF077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2747963"/>
            <a:ext cx="7772400" cy="771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/>
            <a:r>
              <a:rPr lang="en-US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9751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1584</Words>
  <Application>Microsoft Office PowerPoint</Application>
  <PresentationFormat>On-screen Show (4:3)</PresentationFormat>
  <Paragraphs>155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 Math</vt:lpstr>
      <vt:lpstr>Office Theme</vt:lpstr>
      <vt:lpstr>Final Year Project Proposal</vt:lpstr>
      <vt:lpstr>Project Team</vt:lpstr>
      <vt:lpstr>Table of Content</vt:lpstr>
      <vt:lpstr>INTRODUCTION AND BACKGROUND</vt:lpstr>
      <vt:lpstr>Introduction &amp; Background</vt:lpstr>
      <vt:lpstr>Project Stakeholders</vt:lpstr>
      <vt:lpstr>LITERATURE REVIEW</vt:lpstr>
      <vt:lpstr>Existing Systems – Commercial Solutions</vt:lpstr>
      <vt:lpstr>References</vt:lpstr>
      <vt:lpstr>Gap Analysis</vt:lpstr>
      <vt:lpstr>Gap Analysis</vt:lpstr>
      <vt:lpstr>PROBLEM STATEMENT</vt:lpstr>
      <vt:lpstr>Problem Statement</vt:lpstr>
      <vt:lpstr>PROPOSED SOLUTION AND METHODOLOGY</vt:lpstr>
      <vt:lpstr>Proposed Solution Overview</vt:lpstr>
      <vt:lpstr>High-Level System Architecture</vt:lpstr>
      <vt:lpstr>Module A – Face &amp; Image Forensics</vt:lpstr>
      <vt:lpstr>Visual Explainability (Grad-CAM)</vt:lpstr>
      <vt:lpstr>Module B – Audio Forensics</vt:lpstr>
      <vt:lpstr>Fusion &amp; Decision Logic</vt:lpstr>
      <vt:lpstr>Forensic Reporting &amp; Web Dashboard</vt:lpstr>
      <vt:lpstr>Audit Trail &amp; Report Generation</vt:lpstr>
      <vt:lpstr>Datasets &amp; Evaluation Strategy</vt:lpstr>
      <vt:lpstr>PROJECT SCOPE</vt:lpstr>
      <vt:lpstr>Project Scope – In Scope</vt:lpstr>
      <vt:lpstr>Project Scope – Out of Scope</vt:lpstr>
      <vt:lpstr>CONSTRAINTS AND LIMITATIONS</vt:lpstr>
      <vt:lpstr>Constraints &amp; Limitations</vt:lpstr>
      <vt:lpstr>Work Breakdown Structure</vt:lpstr>
      <vt:lpstr>Work Breakdown Structure</vt:lpstr>
      <vt:lpstr>Work Breakdown Structure</vt:lpstr>
      <vt:lpstr>Team Roles &amp; Responsibilities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Mubashir</cp:lastModifiedBy>
  <cp:revision>6</cp:revision>
  <dcterms:created xsi:type="dcterms:W3CDTF">2013-01-22T07:04:44Z</dcterms:created>
  <dcterms:modified xsi:type="dcterms:W3CDTF">2026-09-17T03:07:27Z</dcterms:modified>
</cp:coreProperties>
</file>